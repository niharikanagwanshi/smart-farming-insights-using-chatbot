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8" r:id="rId2"/>
    <p:sldId id="257" r:id="rId3"/>
    <p:sldId id="258" r:id="rId4"/>
    <p:sldId id="269" r:id="rId5"/>
    <p:sldId id="259" r:id="rId6"/>
    <p:sldId id="270" r:id="rId7"/>
    <p:sldId id="271" r:id="rId8"/>
    <p:sldId id="260" r:id="rId9"/>
    <p:sldId id="261" r:id="rId10"/>
    <p:sldId id="262" r:id="rId11"/>
    <p:sldId id="263" r:id="rId12"/>
    <p:sldId id="264" r:id="rId13"/>
    <p:sldId id="265" r:id="rId14"/>
    <p:sldId id="266" r:id="rId15"/>
  </p:sldIdLst>
  <p:sldSz cx="9144000" cy="5143500" type="screen16x9"/>
  <p:notesSz cx="5143500" cy="9144000"/>
  <p:custDataLst>
    <p:tags r:id="rId17"/>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204"/>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drive.google.com/file/d/1kJAaRM9h3AgR6p7cZAjusNtX8cjisyuZ/view?usp=drive_link"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173754" y="406326"/>
            <a:ext cx="3794461" cy="449449"/>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Niharika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Nagwanshi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610302"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niharikanagwanshi244@gmail.com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 Raja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SIr</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451426"/>
            <a:ext cx="3051630" cy="434301"/>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882354"/>
            <a:ext cx="3854253" cy="1426007"/>
          </a:xfrm>
          <a:prstGeom prst="rect">
            <a:avLst/>
          </a:prstGeom>
        </p:spPr>
      </p:pic>
      <p:sp>
        <p:nvSpPr>
          <p:cNvPr id="26" name="Rectangle: Rounded Corners 25">
            <a:extLst>
              <a:ext uri="{FF2B5EF4-FFF2-40B4-BE49-F238E27FC236}">
                <a16:creationId xmlns:a16="http://schemas.microsoft.com/office/drawing/2014/main" id="{5752C1F3-87DC-0D6F-0208-30D5DAC23EA9}"/>
              </a:ext>
            </a:extLst>
          </p:cNvPr>
          <p:cNvSpPr/>
          <p:nvPr/>
        </p:nvSpPr>
        <p:spPr>
          <a:xfrm>
            <a:off x="0" y="2304355"/>
            <a:ext cx="4224335" cy="613501"/>
          </a:xfrm>
          <a:prstGeom prst="roundRect">
            <a:avLst/>
          </a:prstGeom>
          <a:solidFill>
            <a:schemeClr val="bg1"/>
          </a:solidFill>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solidFill>
                  <a:schemeClr val="accent1">
                    <a:lumMod val="50000"/>
                  </a:schemeClr>
                </a:solidFill>
              </a:rPr>
              <a:t>SMART FARMING INSIGHTS AND CHATBOT-  BASED DECISION SUPPORT USING DATA ANALYSIS</a:t>
            </a:r>
            <a:endParaRPr lang="en-IN" sz="1400" b="1" dirty="0">
              <a:solidFill>
                <a:schemeClr val="accent1">
                  <a:lumMod val="50000"/>
                </a:schemeClr>
              </a:solidFill>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472966"/>
            <a:ext cx="8229600" cy="464871"/>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0" y="937837"/>
            <a:ext cx="7472855" cy="410612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This project,</a:t>
            </a:r>
            <a:r>
              <a:rPr lang="en-US" sz="16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 </a:t>
            </a:r>
            <a:r>
              <a:rPr lang="en-US" sz="1600" b="1" i="1" dirty="0">
                <a:latin typeface="Lato" panose="020F0502020204030203" pitchFamily="34" charset="0"/>
                <a:ea typeface="Lato" panose="020F0502020204030203" pitchFamily="34" charset="0"/>
                <a:cs typeface="Lato" panose="020F0502020204030203" pitchFamily="34" charset="0"/>
              </a:rPr>
              <a:t>Smart Farming Insights And Chatbot-  Based Decision Support Using Data Analysis</a:t>
            </a:r>
            <a:r>
              <a:rPr lang="en-US" sz="1600" b="1" dirty="0">
                <a:latin typeface="Lato" panose="020F0502020204030203" pitchFamily="34" charset="0"/>
                <a:ea typeface="Lato" panose="020F0502020204030203" pitchFamily="34" charset="0"/>
                <a:cs typeface="Lato" panose="020F0502020204030203" pitchFamily="34" charset="0"/>
              </a:rPr>
              <a:t>, </a:t>
            </a:r>
            <a:r>
              <a:rPr lang="en-US" sz="1600" dirty="0">
                <a:latin typeface="Lato" panose="020F0502020204030203" pitchFamily="34" charset="0"/>
                <a:ea typeface="Lato" panose="020F0502020204030203" pitchFamily="34" charset="0"/>
                <a:cs typeface="Lato" panose="020F0502020204030203" pitchFamily="34" charset="0"/>
              </a:rPr>
              <a:t>focuses first on developing an interactive dashboard to visualize agricultural data and generate meaningful insights for better decision-making. Using Microsoft Power BI, the dashboard presents key metrics such as sales trends, demand–supply patterns, pricing variations, seasonal performance, and customer feedback, helping users easily understand complex data.</a:t>
            </a:r>
          </a:p>
          <a:p>
            <a:pPr marL="285750" indent="-285750" algn="just">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The dataset used in this project consists of agricultural product sales data with over </a:t>
            </a:r>
            <a:r>
              <a:rPr lang="en-US" sz="1600" b="1" dirty="0">
                <a:latin typeface="Lato" panose="020F0502020204030203" pitchFamily="34" charset="0"/>
                <a:ea typeface="Lato" panose="020F0502020204030203" pitchFamily="34" charset="0"/>
                <a:cs typeface="Lato" panose="020F0502020204030203" pitchFamily="34" charset="0"/>
              </a:rPr>
              <a:t>8000+ rows and 17 columns</a:t>
            </a:r>
            <a:r>
              <a:rPr lang="en-US" sz="1600" dirty="0">
                <a:latin typeface="Lato" panose="020F0502020204030203" pitchFamily="34" charset="0"/>
                <a:ea typeface="Lato" panose="020F0502020204030203" pitchFamily="34" charset="0"/>
                <a:cs typeface="Lato" panose="020F0502020204030203" pitchFamily="34" charset="0"/>
              </a:rPr>
              <a:t>, including details like product category, price, sales, inventory, supplier information, and customer ratings. The data was cleaned and preprocessed using Microsoft Excel to remove inconsistencies and enhance analysis quality</a:t>
            </a:r>
            <a:r>
              <a:rPr lang="en-US" sz="1600" dirty="0">
                <a:latin typeface="Bahnschrift Light Condensed" panose="020B0502040204020203" pitchFamily="34" charset="0"/>
              </a:rPr>
              <a:t>.</a:t>
            </a:r>
          </a:p>
        </p:txBody>
      </p:sp>
      <p:sp>
        <p:nvSpPr>
          <p:cNvPr id="2" name="Freeform 28">
            <a:extLst>
              <a:ext uri="{FF2B5EF4-FFF2-40B4-BE49-F238E27FC236}">
                <a16:creationId xmlns:a16="http://schemas.microsoft.com/office/drawing/2014/main" id="{AA7F05EE-340D-A58A-BAD0-FB0660B2D339}"/>
              </a:ext>
            </a:extLst>
          </p:cNvPr>
          <p:cNvSpPr/>
          <p:nvPr/>
        </p:nvSpPr>
        <p:spPr>
          <a:xfrm>
            <a:off x="7472855" y="1171479"/>
            <a:ext cx="1786758" cy="3411031"/>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0E1CB3-1D9B-30C5-3E3E-E2A7CE6D2E75}"/>
              </a:ext>
            </a:extLst>
          </p:cNvPr>
          <p:cNvSpPr txBox="1"/>
          <p:nvPr/>
        </p:nvSpPr>
        <p:spPr>
          <a:xfrm>
            <a:off x="1" y="672662"/>
            <a:ext cx="9017875" cy="3890937"/>
          </a:xfrm>
          <a:prstGeom prst="rect">
            <a:avLst/>
          </a:prstGeom>
          <a:noFill/>
        </p:spPr>
        <p:txBody>
          <a:bodyPr wrap="square">
            <a:spAutoFit/>
          </a:bodyPr>
          <a:lstStyle/>
          <a:p>
            <a:pPr marL="285750" indent="-285750" algn="just">
              <a:lnSpc>
                <a:spcPct val="150000"/>
              </a:lnSpc>
              <a:spcBef>
                <a:spcPts val="600"/>
              </a:spcBef>
              <a:spcAft>
                <a:spcPts val="600"/>
              </a:spcAft>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The main objective of the project is to identify challenges such as demand–supply mismatch, pricing fluctuations, seasonal variations, and customer feedback issues, and address them using data-driven approaches. The project utilizes tools and technologies such as Microsoft Excel for data cleaning, Microsoft Power BI for visualization, and Microsoft Copilot Studio for developing an AI-powered chatbot </a:t>
            </a:r>
            <a:r>
              <a:rPr lang="en-US" sz="1600" b="1" dirty="0">
                <a:latin typeface="Lato" panose="020F0502020204030203" pitchFamily="34" charset="0"/>
                <a:ea typeface="Lato" panose="020F0502020204030203" pitchFamily="34" charset="0"/>
                <a:cs typeface="Lato" panose="020F0502020204030203" pitchFamily="34" charset="0"/>
              </a:rPr>
              <a:t>(</a:t>
            </a:r>
            <a:r>
              <a:rPr lang="en-US" sz="1600" b="1" dirty="0" err="1">
                <a:latin typeface="Lato" panose="020F0502020204030203" pitchFamily="34" charset="0"/>
                <a:ea typeface="Lato" panose="020F0502020204030203" pitchFamily="34" charset="0"/>
                <a:cs typeface="Lato" panose="020F0502020204030203" pitchFamily="34" charset="0"/>
              </a:rPr>
              <a:t>AgriPluse</a:t>
            </a:r>
            <a:r>
              <a:rPr lang="en-US" sz="1600" dirty="0">
                <a:latin typeface="Lato" panose="020F0502020204030203" pitchFamily="34" charset="0"/>
                <a:ea typeface="Lato" panose="020F0502020204030203" pitchFamily="34" charset="0"/>
                <a:cs typeface="Lato" panose="020F0502020204030203" pitchFamily="34" charset="0"/>
              </a:rPr>
              <a:t>) that provides real-time guidance and recommendations.</a:t>
            </a:r>
          </a:p>
          <a:p>
            <a:pPr marL="285750" indent="-285750" algn="just">
              <a:lnSpc>
                <a:spcPct val="150000"/>
              </a:lnSpc>
              <a:spcBef>
                <a:spcPts val="600"/>
              </a:spcBef>
              <a:spcAft>
                <a:spcPts val="600"/>
              </a:spcAft>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The expected outcomes include a clean and structured dataset, an interactive dashboard for visual insights, and an intelligent chatbot that simplifies complex data into easy-to-understand recommendations. Key highlights of the project include the integration of AI with data analytics, a user-friendly chatbot interface, and support for digital transformation in agriculture by enabling non-technical users to make informed decisions efficiently</a:t>
            </a:r>
          </a:p>
        </p:txBody>
      </p:sp>
    </p:spTree>
    <p:extLst>
      <p:ext uri="{BB962C8B-B14F-4D97-AF65-F5344CB8AC3E}">
        <p14:creationId xmlns:p14="http://schemas.microsoft.com/office/powerpoint/2010/main" val="2547923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5665075" y="873760"/>
            <a:ext cx="3170315" cy="3947240"/>
          </a:xfrm>
          <a:prstGeom prst="rect">
            <a:avLst/>
          </a:prstGeom>
        </p:spPr>
      </p:pic>
      <p:sp>
        <p:nvSpPr>
          <p:cNvPr id="4" name="Text 2"/>
          <p:cNvSpPr/>
          <p:nvPr/>
        </p:nvSpPr>
        <p:spPr>
          <a:xfrm>
            <a:off x="120623" y="420413"/>
            <a:ext cx="8229600" cy="840827"/>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a:extLst>
              <a:ext uri="{FF2B5EF4-FFF2-40B4-BE49-F238E27FC236}">
                <a16:creationId xmlns:a16="http://schemas.microsoft.com/office/drawing/2014/main" id="{90FD523D-AABE-B7EC-765A-50D084E678C8}"/>
              </a:ext>
            </a:extLst>
          </p:cNvPr>
          <p:cNvSpPr>
            <a:spLocks noChangeArrowheads="1"/>
          </p:cNvSpPr>
          <p:nvPr/>
        </p:nvSpPr>
        <p:spPr bwMode="auto">
          <a:xfrm>
            <a:off x="1" y="976557"/>
            <a:ext cx="6243144" cy="389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The core problem addressed in this project is the lack of data-driven decision-making in agriculture and small businesses, leading to issues such as demand–supply mismatch, pricing instability, seasonal inefficiencies, and inconsistent customer feedback.</a:t>
            </a:r>
          </a:p>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This problem is significant because it directly affects productivity, profitability, and resource utilization. Farmers and small business owners often rely on traditional methods, making it difficult to analyze large datasets and identify meaningful patterns.</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B6948A-9E0B-A66D-F208-A5AAB5780F9F}"/>
              </a:ext>
            </a:extLst>
          </p:cNvPr>
          <p:cNvSpPr txBox="1"/>
          <p:nvPr/>
        </p:nvSpPr>
        <p:spPr>
          <a:xfrm>
            <a:off x="94593" y="672878"/>
            <a:ext cx="8723586" cy="3675493"/>
          </a:xfrm>
          <a:prstGeom prst="rect">
            <a:avLst/>
          </a:prstGeom>
          <a:noFill/>
        </p:spPr>
        <p:txBody>
          <a:bodyPr wrap="square">
            <a:spAutoFit/>
          </a:bodyPr>
          <a:lstStyle/>
          <a:p>
            <a:pPr marL="285750" indent="-285750" algn="just" eaLnBrk="0" fontAlgn="base" hangingPunct="0">
              <a:lnSpc>
                <a:spcPct val="150000"/>
              </a:lnSpc>
              <a:spcBef>
                <a:spcPts val="600"/>
              </a:spcBef>
              <a:spcAft>
                <a:spcPts val="600"/>
              </a:spcAft>
              <a:buFont typeface="Arial" panose="020B0604020202020204" pitchFamily="34" charset="0"/>
              <a:buChar char="•"/>
            </a:pPr>
            <a:r>
              <a:rPr lang="en-US" altLang="en-US" sz="1600" dirty="0">
                <a:latin typeface="Lato" panose="020F0502020204030203" pitchFamily="34" charset="0"/>
                <a:ea typeface="Lato" panose="020F0502020204030203" pitchFamily="34" charset="0"/>
                <a:cs typeface="Lato" panose="020F0502020204030203" pitchFamily="34" charset="0"/>
              </a:rPr>
              <a:t>The primary users affected are farmers, agri-business owners, and small-scale entrepreneurs who need simple and effective tools to improve their operations and decision-making.</a:t>
            </a:r>
            <a:endPar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Existing approaches mainly depend on manual analysis with limited use of dashboards or AI tools, which makes the process time-consuming and less accurate. There is also a lack of user-friendly systems that non-technical users can easily understand and use.</a:t>
            </a:r>
          </a:p>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The scope of this project is limited to analyzing a structured agricultural dataset and providing insights through a Power BI dashboard and an AI chatbot. It does not include real-time data integration or large-scale deployment but focuses on creating a smart, accessible decision-support system</a:t>
            </a:r>
            <a:endParaRPr lang="en-IN" sz="16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588518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F4C6BC-34B6-C45C-74D3-0A4E853D2F64}"/>
              </a:ext>
            </a:extLst>
          </p:cNvPr>
          <p:cNvSpPr txBox="1"/>
          <p:nvPr/>
        </p:nvSpPr>
        <p:spPr>
          <a:xfrm>
            <a:off x="141890" y="478221"/>
            <a:ext cx="1539766" cy="400110"/>
          </a:xfrm>
          <a:prstGeom prst="rect">
            <a:avLst/>
          </a:prstGeom>
          <a:noFill/>
        </p:spPr>
        <p:txBody>
          <a:bodyPr wrap="square" rtlCol="0">
            <a:spAutoFit/>
          </a:bodyPr>
          <a:lstStyle/>
          <a:p>
            <a:r>
              <a:rPr lang="en-IN" sz="2000" b="1" dirty="0">
                <a:solidFill>
                  <a:srgbClr val="002060"/>
                </a:solidFill>
                <a:latin typeface="Lato" panose="020F0502020204030203" pitchFamily="34" charset="0"/>
                <a:ea typeface="Lato" panose="020F0502020204030203" pitchFamily="34" charset="0"/>
                <a:cs typeface="Lato" panose="020F0502020204030203" pitchFamily="34" charset="0"/>
              </a:rPr>
              <a:t>Objectives</a:t>
            </a:r>
          </a:p>
        </p:txBody>
      </p:sp>
      <p:sp>
        <p:nvSpPr>
          <p:cNvPr id="8" name="TextBox 7">
            <a:extLst>
              <a:ext uri="{FF2B5EF4-FFF2-40B4-BE49-F238E27FC236}">
                <a16:creationId xmlns:a16="http://schemas.microsoft.com/office/drawing/2014/main" id="{0858D042-5403-1084-A26C-43BBA58ED64B}"/>
              </a:ext>
            </a:extLst>
          </p:cNvPr>
          <p:cNvSpPr txBox="1"/>
          <p:nvPr/>
        </p:nvSpPr>
        <p:spPr>
          <a:xfrm>
            <a:off x="141890" y="998484"/>
            <a:ext cx="8897007" cy="3837076"/>
          </a:xfrm>
          <a:prstGeom prst="rect">
            <a:avLst/>
          </a:prstGeom>
          <a:noFill/>
        </p:spPr>
        <p:txBody>
          <a:bodyPr wrap="square" rtlCol="0">
            <a:spAutoFit/>
          </a:bodyPr>
          <a:lstStyle/>
          <a:p>
            <a:pPr marL="285750" indent="-285750">
              <a:lnSpc>
                <a:spcPct val="150000"/>
              </a:lnSpc>
              <a:spcBef>
                <a:spcPts val="600"/>
              </a:spcBef>
              <a:spcAft>
                <a:spcPts val="600"/>
              </a:spcAft>
              <a:buFont typeface="Arial" panose="020B0604020202020204" pitchFamily="34" charset="0"/>
              <a:buChar char="•"/>
            </a:pPr>
            <a:r>
              <a:rPr lang="en-US" sz="1500" b="1" dirty="0">
                <a:latin typeface="Lato" panose="020F0502020204030203" pitchFamily="34" charset="0"/>
                <a:ea typeface="Lato" panose="020F0502020204030203" pitchFamily="34" charset="0"/>
                <a:cs typeface="Lato" panose="020F0502020204030203" pitchFamily="34" charset="0"/>
              </a:rPr>
              <a:t>Data Preparation &amp; Understanding:</a:t>
            </a:r>
            <a:br>
              <a:rPr lang="en-US" sz="1500" dirty="0">
                <a:latin typeface="Lato" panose="020F0502020204030203" pitchFamily="34" charset="0"/>
                <a:ea typeface="Lato" panose="020F0502020204030203" pitchFamily="34" charset="0"/>
                <a:cs typeface="Lato" panose="020F0502020204030203" pitchFamily="34" charset="0"/>
              </a:rPr>
            </a:br>
            <a:r>
              <a:rPr lang="en-US" sz="1500" dirty="0">
                <a:latin typeface="Lato" panose="020F0502020204030203" pitchFamily="34" charset="0"/>
                <a:ea typeface="Lato" panose="020F0502020204030203" pitchFamily="34" charset="0"/>
                <a:cs typeface="Lato" panose="020F0502020204030203" pitchFamily="34" charset="0"/>
              </a:rPr>
              <a:t>To collect, clean, and preprocess the agricultural dataset by removing inconsistencies and analyzing key variables like product category, price, sales, shipment, inventory, and customer ratings. </a:t>
            </a:r>
          </a:p>
          <a:p>
            <a:pPr marL="285750" indent="-285750">
              <a:lnSpc>
                <a:spcPct val="150000"/>
              </a:lnSpc>
              <a:spcBef>
                <a:spcPts val="600"/>
              </a:spcBef>
              <a:spcAft>
                <a:spcPts val="600"/>
              </a:spcAft>
              <a:buFont typeface="Arial" panose="020B0604020202020204" pitchFamily="34" charset="0"/>
              <a:buChar char="•"/>
            </a:pPr>
            <a:r>
              <a:rPr lang="en-US" sz="1500" b="1" dirty="0">
                <a:latin typeface="Lato" panose="020F0502020204030203" pitchFamily="34" charset="0"/>
                <a:ea typeface="Lato" panose="020F0502020204030203" pitchFamily="34" charset="0"/>
                <a:cs typeface="Lato" panose="020F0502020204030203" pitchFamily="34" charset="0"/>
              </a:rPr>
              <a:t>Analysis of Demand, Performance &amp; Quality:</a:t>
            </a:r>
            <a:br>
              <a:rPr lang="en-US" sz="1500" dirty="0">
                <a:latin typeface="Lato" panose="020F0502020204030203" pitchFamily="34" charset="0"/>
                <a:ea typeface="Lato" panose="020F0502020204030203" pitchFamily="34" charset="0"/>
                <a:cs typeface="Lato" panose="020F0502020204030203" pitchFamily="34" charset="0"/>
              </a:rPr>
            </a:br>
            <a:r>
              <a:rPr lang="en-US" sz="1500" dirty="0">
                <a:latin typeface="Lato" panose="020F0502020204030203" pitchFamily="34" charset="0"/>
                <a:ea typeface="Lato" panose="020F0502020204030203" pitchFamily="34" charset="0"/>
                <a:cs typeface="Lato" panose="020F0502020204030203" pitchFamily="34" charset="0"/>
              </a:rPr>
              <a:t>To examine </a:t>
            </a:r>
            <a:r>
              <a:rPr lang="en-US" sz="1600" dirty="0">
                <a:latin typeface="Lato" panose="020F0502020204030203" pitchFamily="34" charset="0"/>
                <a:ea typeface="Lato" panose="020F0502020204030203" pitchFamily="34" charset="0"/>
                <a:cs typeface="Lato" panose="020F0502020204030203" pitchFamily="34" charset="0"/>
              </a:rPr>
              <a:t>demand</a:t>
            </a:r>
            <a:r>
              <a:rPr lang="en-US" sz="1500" dirty="0">
                <a:latin typeface="Lato" panose="020F0502020204030203" pitchFamily="34" charset="0"/>
                <a:ea typeface="Lato" panose="020F0502020204030203" pitchFamily="34" charset="0"/>
                <a:cs typeface="Lato" panose="020F0502020204030203" pitchFamily="34" charset="0"/>
              </a:rPr>
              <a:t>–supply gaps, pricing and revenue trends, seasonal and location-wise performance, and customer feedback to identify inefficiencies and improve product quality and sales. </a:t>
            </a:r>
          </a:p>
          <a:p>
            <a:pPr marL="285750" indent="-285750">
              <a:lnSpc>
                <a:spcPct val="150000"/>
              </a:lnSpc>
              <a:spcBef>
                <a:spcPts val="600"/>
              </a:spcBef>
              <a:spcAft>
                <a:spcPts val="600"/>
              </a:spcAft>
              <a:buFont typeface="Arial" panose="020B0604020202020204" pitchFamily="34" charset="0"/>
              <a:buChar char="•"/>
            </a:pPr>
            <a:r>
              <a:rPr lang="en-US" sz="1500" b="1" dirty="0">
                <a:latin typeface="Lato" panose="020F0502020204030203" pitchFamily="34" charset="0"/>
                <a:ea typeface="Lato" panose="020F0502020204030203" pitchFamily="34" charset="0"/>
                <a:cs typeface="Lato" panose="020F0502020204030203" pitchFamily="34" charset="0"/>
              </a:rPr>
              <a:t>Smart Decision Support System:</a:t>
            </a:r>
            <a:br>
              <a:rPr lang="en-US" sz="1500" dirty="0">
                <a:latin typeface="Lato" panose="020F0502020204030203" pitchFamily="34" charset="0"/>
                <a:ea typeface="Lato" panose="020F0502020204030203" pitchFamily="34" charset="0"/>
                <a:cs typeface="Lato" panose="020F0502020204030203" pitchFamily="34" charset="0"/>
              </a:rPr>
            </a:br>
            <a:r>
              <a:rPr lang="en-US" sz="1500" dirty="0">
                <a:latin typeface="Lato" panose="020F0502020204030203" pitchFamily="34" charset="0"/>
                <a:ea typeface="Lato" panose="020F0502020204030203" pitchFamily="34" charset="0"/>
                <a:cs typeface="Lato" panose="020F0502020204030203" pitchFamily="34" charset="0"/>
              </a:rPr>
              <a:t>To develop an interactive dashboard and integrate an AI chatbot to deliver real-time insights, enabling data-driven decisions and promoting digital transformation in agriculture</a:t>
            </a:r>
            <a:r>
              <a:rPr lang="en-US" sz="1600" dirty="0">
                <a:latin typeface="Lato" panose="020F0502020204030203" pitchFamily="34" charset="0"/>
                <a:ea typeface="Lato" panose="020F0502020204030203" pitchFamily="34" charset="0"/>
                <a:cs typeface="Lato" panose="020F0502020204030203" pitchFamily="34" charset="0"/>
              </a:rPr>
              <a:t>. </a:t>
            </a:r>
          </a:p>
        </p:txBody>
      </p:sp>
    </p:spTree>
    <p:extLst>
      <p:ext uri="{BB962C8B-B14F-4D97-AF65-F5344CB8AC3E}">
        <p14:creationId xmlns:p14="http://schemas.microsoft.com/office/powerpoint/2010/main" val="138358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6106510" y="725532"/>
            <a:ext cx="3037490" cy="4203183"/>
          </a:xfrm>
          <a:prstGeom prst="rect">
            <a:avLst/>
          </a:prstGeom>
        </p:spPr>
      </p:pic>
      <p:sp>
        <p:nvSpPr>
          <p:cNvPr id="4" name="Text 2"/>
          <p:cNvSpPr/>
          <p:nvPr/>
        </p:nvSpPr>
        <p:spPr>
          <a:xfrm>
            <a:off x="125486" y="50607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flipV="1">
            <a:off x="125486" y="1000294"/>
            <a:ext cx="4416154" cy="45719"/>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Rectangle 2">
            <a:extLst>
              <a:ext uri="{FF2B5EF4-FFF2-40B4-BE49-F238E27FC236}">
                <a16:creationId xmlns:a16="http://schemas.microsoft.com/office/drawing/2014/main" id="{49296E8C-7C8C-1A12-6CBA-B564A7865A12}"/>
              </a:ext>
            </a:extLst>
          </p:cNvPr>
          <p:cNvSpPr>
            <a:spLocks noChangeArrowheads="1"/>
          </p:cNvSpPr>
          <p:nvPr/>
        </p:nvSpPr>
        <p:spPr bwMode="auto">
          <a:xfrm>
            <a:off x="1" y="1787692"/>
            <a:ext cx="51271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FEB06F5B-D2D3-BE79-869B-43786164AE09}"/>
              </a:ext>
            </a:extLst>
          </p:cNvPr>
          <p:cNvSpPr>
            <a:spLocks noChangeArrowheads="1"/>
          </p:cNvSpPr>
          <p:nvPr/>
        </p:nvSpPr>
        <p:spPr bwMode="auto">
          <a:xfrm>
            <a:off x="2" y="938661"/>
            <a:ext cx="6841593" cy="4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The proposed solution is a smart system that combines data analysis and an AI chatbot to solve agricultural challenges. The dataset is cleaned using Microsoft Excel and visualized in Microsoft Power BI through the </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Farm Sales and Operation Dashboard</a:t>
            </a: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showing key insights like demand–supply gaps and pricing trends.</a:t>
            </a:r>
          </a:p>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An </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AI-powered chatbot (</a:t>
            </a:r>
            <a:r>
              <a:rPr kumimoji="0" lang="en-US" altLang="en-US" sz="1600" b="1" i="0" u="none" strike="noStrike" cap="none" normalizeH="0" baseline="0" dirty="0" err="1">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AgriPluse</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t>
            </a: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built using Microsoft Copilot Studio provides </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structured insights and recommendations</a:t>
            </a: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to users in a simple way.</a:t>
            </a:r>
          </a:p>
          <a:p>
            <a:pPr marL="285750" marR="0" lvl="0" indent="-285750" algn="just" defTabSz="914400" rtl="0" eaLnBrk="0" fontAlgn="base" latinLnBrk="0" hangingPunct="0">
              <a:lnSpc>
                <a:spcPct val="15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This solution helps improve decision-making, reduce losses, and promote digital adoption among farmers and small businesses.</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189688" y="123561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235408" y="1700400"/>
            <a:ext cx="4189925" cy="1188720"/>
          </a:xfrm>
          <a:prstGeom prst="rect">
            <a:avLst/>
          </a:prstGeom>
          <a:noFill/>
          <a:ln/>
        </p:spPr>
        <p:txBody>
          <a:bodyPr wrap="square" rtlCol="0" anchor="t"/>
          <a:lstStyle/>
          <a:p>
            <a:pPr algn="just">
              <a:spcBef>
                <a:spcPts val="600"/>
              </a:spcBef>
              <a:spcAft>
                <a:spcPts val="600"/>
              </a:spcAft>
            </a:pPr>
            <a:r>
              <a:rPr lang="en-US" sz="1600" dirty="0">
                <a:latin typeface="Lato" panose="020F0502020204030203" pitchFamily="34" charset="0"/>
                <a:ea typeface="Lato" panose="020F0502020204030203" pitchFamily="34" charset="0"/>
                <a:cs typeface="Lato" panose="020F0502020204030203" pitchFamily="34" charset="0"/>
              </a:rPr>
              <a:t>Data sourced from Kaggle, enhanced using ChatGPT by adding columns like digital tools usage and customer ratings, and further cleaned for accurate analysis</a:t>
            </a:r>
            <a:r>
              <a:rPr lang="en-US" sz="1600" dirty="0"/>
              <a:t>.</a:t>
            </a:r>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algn="just">
              <a:spcBef>
                <a:spcPts val="600"/>
              </a:spcBef>
              <a:spcAft>
                <a:spcPts val="600"/>
              </a:spcAft>
            </a:pPr>
            <a:r>
              <a:rPr lang="en-US" sz="1600" dirty="0">
                <a:latin typeface="Lato" panose="020F0502020204030203" pitchFamily="34" charset="0"/>
                <a:ea typeface="Lato" panose="020F0502020204030203" pitchFamily="34" charset="0"/>
                <a:cs typeface="Lato" panose="020F0502020204030203" pitchFamily="34" charset="0"/>
              </a:rPr>
              <a:t>The dataset was cleaned, transformed, and analyzed using Microsoft Excel by handling missing values, adding new columns, and creating charts for insights.</a:t>
            </a:r>
          </a:p>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235408" y="3390480"/>
            <a:ext cx="4251960" cy="1753020"/>
          </a:xfrm>
          <a:prstGeom prst="rect">
            <a:avLst/>
          </a:prstGeom>
          <a:noFill/>
          <a:ln/>
        </p:spPr>
        <p:txBody>
          <a:bodyPr wrap="square" rtlCol="0" anchor="t"/>
          <a:lstStyle/>
          <a:p>
            <a:pPr algn="just"/>
            <a:r>
              <a:rPr lang="en-US" sz="1550" dirty="0">
                <a:latin typeface="Lato" panose="020F0502020204030203" pitchFamily="34" charset="0"/>
                <a:ea typeface="Lato" panose="020F0502020204030203" pitchFamily="34" charset="0"/>
                <a:cs typeface="Lato" panose="020F0502020204030203" pitchFamily="34" charset="0"/>
              </a:rPr>
              <a:t>Microsoft Excel is used for data cleaning and preparation, while Microsoft Power BI creates the </a:t>
            </a:r>
            <a:r>
              <a:rPr lang="en-US" sz="1550" b="1" dirty="0">
                <a:latin typeface="Lato" panose="020F0502020204030203" pitchFamily="34" charset="0"/>
                <a:ea typeface="Lato" panose="020F0502020204030203" pitchFamily="34" charset="0"/>
                <a:cs typeface="Lato" panose="020F0502020204030203" pitchFamily="34" charset="0"/>
              </a:rPr>
              <a:t>Farm Sales and Operation Dashboard</a:t>
            </a:r>
            <a:r>
              <a:rPr lang="en-US" sz="1550" dirty="0">
                <a:latin typeface="Lato" panose="020F0502020204030203" pitchFamily="34" charset="0"/>
                <a:ea typeface="Lato" panose="020F0502020204030203" pitchFamily="34" charset="0"/>
                <a:cs typeface="Lato" panose="020F0502020204030203" pitchFamily="34" charset="0"/>
              </a:rPr>
              <a:t> for visual insights and an </a:t>
            </a:r>
            <a:r>
              <a:rPr lang="en-US" sz="1550" b="1" dirty="0">
                <a:latin typeface="Lato" panose="020F0502020204030203" pitchFamily="34" charset="0"/>
                <a:ea typeface="Lato" panose="020F0502020204030203" pitchFamily="34" charset="0"/>
                <a:cs typeface="Lato" panose="020F0502020204030203" pitchFamily="34" charset="0"/>
              </a:rPr>
              <a:t>AI chatbot (</a:t>
            </a:r>
            <a:r>
              <a:rPr lang="en-US" sz="1550" b="1" dirty="0" err="1">
                <a:latin typeface="Lato" panose="020F0502020204030203" pitchFamily="34" charset="0"/>
                <a:ea typeface="Lato" panose="020F0502020204030203" pitchFamily="34" charset="0"/>
                <a:cs typeface="Lato" panose="020F0502020204030203" pitchFamily="34" charset="0"/>
              </a:rPr>
              <a:t>AgriPluse</a:t>
            </a:r>
            <a:r>
              <a:rPr lang="en-US" sz="1550" b="1" dirty="0">
                <a:latin typeface="Lato" panose="020F0502020204030203" pitchFamily="34" charset="0"/>
                <a:ea typeface="Lato" panose="020F0502020204030203" pitchFamily="34" charset="0"/>
                <a:cs typeface="Lato" panose="020F0502020204030203" pitchFamily="34" charset="0"/>
              </a:rPr>
              <a:t>)</a:t>
            </a:r>
            <a:r>
              <a:rPr lang="en-US" sz="1550" dirty="0">
                <a:latin typeface="Lato" panose="020F0502020204030203" pitchFamily="34" charset="0"/>
                <a:ea typeface="Lato" panose="020F0502020204030203" pitchFamily="34" charset="0"/>
                <a:cs typeface="Lato" panose="020F0502020204030203" pitchFamily="34" charset="0"/>
              </a:rPr>
              <a:t> built using Microsoft Copilot Studio provides simple, real-time recommendations and insights to users.</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2" name="Rectangle 3">
            <a:extLst>
              <a:ext uri="{FF2B5EF4-FFF2-40B4-BE49-F238E27FC236}">
                <a16:creationId xmlns:a16="http://schemas.microsoft.com/office/drawing/2014/main" id="{4A3890BA-D537-3B08-3A9E-FB3A28232D29}"/>
              </a:ext>
            </a:extLst>
          </p:cNvPr>
          <p:cNvSpPr>
            <a:spLocks noChangeArrowheads="1"/>
          </p:cNvSpPr>
          <p:nvPr/>
        </p:nvSpPr>
        <p:spPr bwMode="auto">
          <a:xfrm>
            <a:off x="4761688" y="3366003"/>
            <a:ext cx="416052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600"/>
              </a:spcBef>
              <a:spcAft>
                <a:spcPts val="600"/>
              </a:spcAft>
              <a:buClrTx/>
              <a:buSzTx/>
              <a:buFontTx/>
              <a:buNone/>
              <a:tabLst/>
            </a:pPr>
            <a:r>
              <a:rPr kumimoji="0" lang="en-US" altLang="en-US" sz="155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The final output includes an interactive </a:t>
            </a:r>
            <a:r>
              <a:rPr kumimoji="0" lang="en-US" altLang="en-US" sz="155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Farm Sales and Operation Dashboard</a:t>
            </a:r>
            <a:r>
              <a:rPr kumimoji="0" lang="en-US" altLang="en-US" sz="155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created using Microsoft Power BI, along with clear charts and visual insights. It also features an </a:t>
            </a:r>
            <a:r>
              <a:rPr kumimoji="0" lang="en-US" altLang="en-US" sz="155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AI chatbot (</a:t>
            </a:r>
            <a:r>
              <a:rPr kumimoji="0" lang="en-US" altLang="en-US" sz="1550" b="1" i="0" u="none" strike="noStrike" cap="none" normalizeH="0" baseline="0" dirty="0" err="1">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AgriPluse</a:t>
            </a:r>
            <a:r>
              <a:rPr kumimoji="0" lang="en-US" altLang="en-US" sz="155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t>
            </a:r>
            <a:r>
              <a:rPr kumimoji="0" lang="en-US" altLang="en-US" sz="155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that provides simple, structured recommendations and insights based on the analyzed data.</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t>
            </a: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109E72B5-F471-E005-0BB0-C9CA31111F7D}"/>
              </a:ext>
            </a:extLst>
          </p:cNvPr>
          <p:cNvPicPr>
            <a:picLocks noChangeAspect="1"/>
          </p:cNvPicPr>
          <p:nvPr/>
        </p:nvPicPr>
        <p:blipFill>
          <a:blip r:embed="rId4"/>
          <a:stretch>
            <a:fillRect/>
          </a:stretch>
        </p:blipFill>
        <p:spPr>
          <a:xfrm>
            <a:off x="274320" y="2200479"/>
            <a:ext cx="2779776" cy="2787139"/>
          </a:xfrm>
          <a:prstGeom prst="rect">
            <a:avLst/>
          </a:prstGeom>
        </p:spPr>
      </p:pic>
      <p:pic>
        <p:nvPicPr>
          <p:cNvPr id="8" name="Picture 7">
            <a:extLst>
              <a:ext uri="{FF2B5EF4-FFF2-40B4-BE49-F238E27FC236}">
                <a16:creationId xmlns:a16="http://schemas.microsoft.com/office/drawing/2014/main" id="{98B61C12-EBB2-069D-669B-E8978198CF39}"/>
              </a:ext>
            </a:extLst>
          </p:cNvPr>
          <p:cNvPicPr>
            <a:picLocks noChangeAspect="1"/>
          </p:cNvPicPr>
          <p:nvPr/>
        </p:nvPicPr>
        <p:blipFill>
          <a:blip r:embed="rId5"/>
          <a:stretch>
            <a:fillRect/>
          </a:stretch>
        </p:blipFill>
        <p:spPr>
          <a:xfrm>
            <a:off x="3218688" y="2200480"/>
            <a:ext cx="2788920" cy="2787139"/>
          </a:xfrm>
          <a:prstGeom prst="rect">
            <a:avLst/>
          </a:prstGeom>
        </p:spPr>
      </p:pic>
      <p:pic>
        <p:nvPicPr>
          <p:cNvPr id="22" name="Picture 21">
            <a:extLst>
              <a:ext uri="{FF2B5EF4-FFF2-40B4-BE49-F238E27FC236}">
                <a16:creationId xmlns:a16="http://schemas.microsoft.com/office/drawing/2014/main" id="{49A8DC53-C3B0-DBF6-3328-05AD4745520E}"/>
              </a:ext>
            </a:extLst>
          </p:cNvPr>
          <p:cNvPicPr>
            <a:picLocks noChangeAspect="1"/>
          </p:cNvPicPr>
          <p:nvPr/>
        </p:nvPicPr>
        <p:blipFill>
          <a:blip r:embed="rId6"/>
          <a:stretch>
            <a:fillRect/>
          </a:stretch>
        </p:blipFill>
        <p:spPr>
          <a:xfrm>
            <a:off x="6144769" y="2196877"/>
            <a:ext cx="2807208" cy="2790742"/>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dirty="0"/>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08538" y="685800"/>
            <a:ext cx="6801770" cy="438912"/>
          </a:xfrm>
          <a:prstGeom prst="rect">
            <a:avLst/>
          </a:prstGeom>
          <a:solidFill>
            <a:srgbClr val="FFFFFF"/>
          </a:solidFill>
          <a:ln w="6350">
            <a:solidFill>
              <a:srgbClr val="CCCCCC"/>
            </a:solidFill>
            <a:prstDash val="solid"/>
          </a:ln>
        </p:spPr>
        <p:txBody>
          <a:bodyPr/>
          <a:lstStyle/>
          <a:p>
            <a:r>
              <a:rPr lang="en-IN" dirty="0"/>
              <a:t>                          </a:t>
            </a:r>
          </a:p>
        </p:txBody>
      </p:sp>
      <p:sp>
        <p:nvSpPr>
          <p:cNvPr id="12" name="Text 10"/>
          <p:cNvSpPr/>
          <p:nvPr/>
        </p:nvSpPr>
        <p:spPr>
          <a:xfrm>
            <a:off x="1308538" y="685800"/>
            <a:ext cx="7159752" cy="694944"/>
          </a:xfrm>
          <a:prstGeom prst="rect">
            <a:avLst/>
          </a:prstGeom>
          <a:noFill/>
          <a:ln/>
        </p:spPr>
        <p:txBody>
          <a:bodyPr wrap="square" rtlCol="0" anchor="ctr"/>
          <a:lstStyle/>
          <a:p>
            <a:r>
              <a:rPr lang="en-US" sz="1400" dirty="0">
                <a:hlinkClick r:id="rId4"/>
              </a:rPr>
              <a:t>https://drive.google.com/file/d/1kJAaRM9h3AgR6p7cZAjusNtX8cjisyuZ/view?usp=drive_link</a:t>
            </a:r>
            <a:endParaRPr lang="en-US" sz="1400" dirty="0"/>
          </a:p>
          <a:p>
            <a:endParaRPr lang="en-US" sz="14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548056"/>
            <a:ext cx="8229600" cy="408385"/>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50976"/>
            <a:ext cx="5042123" cy="3773272"/>
          </a:xfrm>
          <a:prstGeom prst="rect">
            <a:avLst/>
          </a:prstGeom>
          <a:noFill/>
          <a:ln/>
        </p:spPr>
        <p:txBody>
          <a:bodyPr wrap="square" rtlCol="0" anchor="t"/>
          <a:lstStyle/>
          <a:p>
            <a:pPr marL="0" indent="0" algn="just">
              <a:lnSpc>
                <a:spcPct val="150000"/>
              </a:lnSpc>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6210889" y="1165860"/>
            <a:ext cx="3017193" cy="3115045"/>
          </a:xfrm>
          <a:prstGeom prst="rect">
            <a:avLst/>
          </a:prstGeom>
        </p:spPr>
      </p:pic>
      <p:sp>
        <p:nvSpPr>
          <p:cNvPr id="3" name="Rectangle 2">
            <a:extLst>
              <a:ext uri="{FF2B5EF4-FFF2-40B4-BE49-F238E27FC236}">
                <a16:creationId xmlns:a16="http://schemas.microsoft.com/office/drawing/2014/main" id="{CA38C5D3-015F-502B-226D-64CD753F98AC}"/>
              </a:ext>
            </a:extLst>
          </p:cNvPr>
          <p:cNvSpPr>
            <a:spLocks noChangeArrowheads="1"/>
          </p:cNvSpPr>
          <p:nvPr/>
        </p:nvSpPr>
        <p:spPr bwMode="auto">
          <a:xfrm>
            <a:off x="125486" y="1343835"/>
            <a:ext cx="6085403" cy="281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ts val="600"/>
              </a:spcBef>
              <a:spcAft>
                <a:spcPts val="600"/>
              </a:spcAft>
              <a:buClrTx/>
              <a:buSzTx/>
              <a:buFontTx/>
              <a:buNone/>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This project developed a smart decision-support system using data analysis and an AI chatbot. The </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Farm Sales and Operation Dashboard</a:t>
            </a: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provided key insights like demand–supply gaps and pricing trends.</a:t>
            </a:r>
          </a:p>
          <a:p>
            <a:pPr marL="0" marR="0" lvl="0" indent="0" algn="just" defTabSz="914400" rtl="0" eaLnBrk="0" fontAlgn="base" latinLnBrk="0" hangingPunct="0">
              <a:lnSpc>
                <a:spcPct val="150000"/>
              </a:lnSpc>
              <a:spcBef>
                <a:spcPts val="600"/>
              </a:spcBef>
              <a:spcAft>
                <a:spcPts val="600"/>
              </a:spcAft>
              <a:buClrTx/>
              <a:buSzTx/>
              <a:buFontTx/>
              <a:buNone/>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The </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AI chatbot (</a:t>
            </a:r>
            <a:r>
              <a:rPr kumimoji="0" lang="en-US" altLang="en-US" sz="1600" b="1" i="0" u="none" strike="noStrike" cap="none" normalizeH="0" baseline="0" dirty="0" err="1">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AgriPlus</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t>
            </a: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delivered simple recommendations, helping users make better decisions. Overall, the project achieved its objectives and supports digital adoption in agriculture</a:t>
            </a:r>
            <a:r>
              <a:rPr kumimoji="0" lang="en-US" altLang="en-US" sz="1700" b="0" i="0" u="none" strike="noStrike" cap="none" normalizeH="0" baseline="0" dirty="0">
                <a:ln>
                  <a:noFill/>
                </a:ln>
                <a:solidFill>
                  <a:schemeClr val="tx1"/>
                </a:solidFill>
                <a:effectLst/>
              </a:rPr>
              <a: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3" name="Rectangle 1">
            <a:extLst>
              <a:ext uri="{FF2B5EF4-FFF2-40B4-BE49-F238E27FC236}">
                <a16:creationId xmlns:a16="http://schemas.microsoft.com/office/drawing/2014/main" id="{75FA3D08-D045-8481-8D45-5AF38C3EEA3B}"/>
              </a:ext>
            </a:extLst>
          </p:cNvPr>
          <p:cNvSpPr>
            <a:spLocks noChangeArrowheads="1"/>
          </p:cNvSpPr>
          <p:nvPr/>
        </p:nvSpPr>
        <p:spPr bwMode="auto">
          <a:xfrm>
            <a:off x="123246" y="1185355"/>
            <a:ext cx="5415705" cy="318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ts val="600"/>
              </a:spcBef>
              <a:spcAft>
                <a:spcPts val="600"/>
              </a:spcAft>
              <a:buClrTx/>
              <a:buSzTx/>
              <a:buFontTx/>
              <a:buNone/>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In the future, this project can be enhanced by adding real-time data integration and predictive analytics for more accurate decision-making. The </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AI chatbot (</a:t>
            </a:r>
            <a:r>
              <a:rPr kumimoji="0" lang="en-US" altLang="en-US" sz="1600" b="1" i="0" u="none" strike="noStrike" cap="none" normalizeH="0" baseline="0" dirty="0" err="1">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AgriPlus</a:t>
            </a:r>
            <a:r>
              <a:rPr kumimoji="0" lang="en-US" altLang="en-US" sz="1600" b="1"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t>
            </a: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can be improved with advanced features like voice support and multilingual interaction.</a:t>
            </a:r>
          </a:p>
          <a:p>
            <a:pPr marL="0" marR="0" lvl="0" indent="0" algn="just" defTabSz="914400" rtl="0" eaLnBrk="0" fontAlgn="base" latinLnBrk="0" hangingPunct="0">
              <a:lnSpc>
                <a:spcPct val="150000"/>
              </a:lnSpc>
              <a:spcBef>
                <a:spcPts val="600"/>
              </a:spcBef>
              <a:spcAft>
                <a:spcPts val="600"/>
              </a:spcAft>
              <a:buClrTx/>
              <a:buSzTx/>
              <a:buFontTx/>
              <a:buNone/>
              <a:tabLst/>
            </a:pPr>
            <a:r>
              <a:rPr kumimoji="0" lang="en-US" altLang="en-US" sz="16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The system can also be developed into a mobile or web application to make it more accessible for farmers and small businesses, increasing its real-world impact</a:t>
            </a:r>
            <a:r>
              <a:rPr kumimoji="0" lang="en-US" altLang="en-US" sz="1700" b="0" i="0" u="none" strike="noStrike" cap="none" normalizeH="0" baseline="0" dirty="0">
                <a:ln>
                  <a:noFill/>
                </a:ln>
                <a:solidFill>
                  <a:schemeClr val="tx1"/>
                </a:solidFill>
                <a:effectLst/>
              </a:rPr>
              <a:t>.</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1397</TotalTime>
  <Words>1111</Words>
  <Application>Microsoft Office PowerPoint</Application>
  <PresentationFormat>On-screen Show (16:9)</PresentationFormat>
  <Paragraphs>77</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Bahnschrift Light Condensed</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NIHARIKA NAGWANSHI</cp:lastModifiedBy>
  <cp:revision>29</cp:revision>
  <dcterms:created xsi:type="dcterms:W3CDTF">2026-02-18T09:17:23Z</dcterms:created>
  <dcterms:modified xsi:type="dcterms:W3CDTF">2026-04-12T17:03:38Z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